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80" r:id="rId8"/>
    <p:sldId id="260" r:id="rId9"/>
    <p:sldId id="281" r:id="rId10"/>
    <p:sldId id="279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751"/>
  </p:normalViewPr>
  <p:slideViewPr>
    <p:cSldViewPr snapToGrid="0" snapToObjects="1" showGuides="1">
      <p:cViewPr varScale="1">
        <p:scale>
          <a:sx n="120" d="100"/>
          <a:sy n="120" d="100"/>
        </p:scale>
        <p:origin x="184" y="240"/>
      </p:cViewPr>
      <p:guideLst>
        <p:guide orient="horz" pos="2200"/>
        <p:guide pos="28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0CAD0-18BD-1149-842A-1F64A3D0930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2C265-BD37-0F4F-80C4-756361DA65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Hi everyone. Today we are presenting OpenAI's 2023 paper, Let's Verify Step by Step. The central topic is process supervision: training a reward model not only to judge whether the final answer is correct, but also to evaluate whether each step in the reasoning process is reliable.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paper is interesting because it does not primarily try to train a better generator. Instead, it asks: given a generator that can already produce many step-by-step candidate solutions, how should we train a verifier, or reward model, to select the most trustworthy solution? The main question for today is simple: for complex mathematical reasoning, is the final answer enough, or do we need to verify the reasoning path step by step?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2C265-BD37-0F4F-80C4-756361DA65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2C265-BD37-0F4F-80C4-756361DA653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394" y="6457492"/>
            <a:ext cx="3282906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</a:t>
            </a:r>
            <a:r>
              <a:rPr lang="zh-CN" altLang="en-US" sz="160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Reward</a:t>
            </a:r>
            <a:r>
              <a:rPr lang="zh-CN" altLang="en-US" sz="160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Modeling</a:t>
            </a:r>
            <a:r>
              <a:rPr lang="zh-CN" altLang="en-US" sz="160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in</a:t>
            </a:r>
            <a:r>
              <a:rPr lang="zh-CN" altLang="en-US" sz="160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LLMs</a:t>
            </a:r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57616" y="6426714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40067"/>
            <a:ext cx="1977390" cy="1041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1691640"/>
            <a:ext cx="9326880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GB" sz="4000" b="1" dirty="0">
                <a:solidFill>
                  <a:srgbClr val="142D69"/>
                </a:solidFill>
                <a:latin typeface="Aptos"/>
              </a:rPr>
              <a:t>Let's Verify Step by Step</a:t>
            </a:r>
            <a:endParaRPr sz="40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91440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0" dirty="0">
                <a:solidFill>
                  <a:srgbClr val="485C91"/>
                </a:solidFill>
                <a:latin typeface="Aptos"/>
              </a:rPr>
              <a:t>Process Supervision for Reliable Mathematical Reasoning</a:t>
            </a:r>
            <a:endParaRPr sz="2800" b="0" dirty="0">
              <a:solidFill>
                <a:srgbClr val="485C9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259328"/>
            <a:ext cx="73152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 dirty="0">
                <a:solidFill>
                  <a:srgbClr val="526384"/>
                </a:solidFill>
                <a:latin typeface="Aptos"/>
              </a:rPr>
              <a:t>Hunter Lightman et al., OpenAI, 2023</a:t>
            </a:r>
            <a:endParaRPr sz="2400" b="0" dirty="0">
              <a:solidFill>
                <a:srgbClr val="52638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014384"/>
            <a:ext cx="749807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Gang Yan and Xinyao Peng  |  Apr 30, 2026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9050" y="6437864"/>
            <a:ext cx="3258207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0" y="34880"/>
            <a:ext cx="1919320" cy="10106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70" y="365760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Motivation: Reasoning Is Useful, But Fragile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234440"/>
            <a:ext cx="4983480" cy="201168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Chain-of-thought prompting enables multi-step reasoning.</a:t>
            </a:r>
            <a:endParaRPr sz="2000" dirty="0"/>
          </a:p>
          <a:p>
            <a:pPr>
              <a:spcAft>
                <a:spcPts val="400"/>
              </a:spcAft>
              <a:defRPr sz="17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But one wrong intermediate step can derail a whole solution.</a:t>
            </a:r>
            <a:endParaRPr sz="2000" dirty="0"/>
          </a:p>
          <a:p>
            <a:pPr>
              <a:spcAft>
                <a:spcPts val="400"/>
              </a:spcAft>
              <a:defRPr sz="17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In math, code, or science, fluent reasoning can still be invalid.</a:t>
            </a:r>
            <a:endParaRPr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4754880" cy="310896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698381"/>
            <a:ext cx="4535424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Central problem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6736" y="4048689"/>
            <a:ext cx="4754875" cy="1017506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087368"/>
            <a:ext cx="4498848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How can we train a model to verify not only the answer, but the reasoning path?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20840" y="1170432"/>
            <a:ext cx="4114800" cy="438912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1: valid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20840" y="1938528"/>
            <a:ext cx="4114800" cy="438912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2: valid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20840" y="2702053"/>
            <a:ext cx="4114800" cy="43891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3: subtle error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720840" y="3517602"/>
            <a:ext cx="4114800" cy="43891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4: fluent continuation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720840" y="4314181"/>
            <a:ext cx="4114800" cy="43891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Final answer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7" name="直线箭头连接符 26"/>
          <p:cNvCxnSpPr>
            <a:stCxn id="17" idx="2"/>
            <a:endCxn id="19" idx="0"/>
          </p:cNvCxnSpPr>
          <p:nvPr/>
        </p:nvCxnSpPr>
        <p:spPr>
          <a:xfrm>
            <a:off x="8778240" y="1609344"/>
            <a:ext cx="0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>
            <a:stCxn id="19" idx="2"/>
            <a:endCxn id="21" idx="0"/>
          </p:cNvCxnSpPr>
          <p:nvPr/>
        </p:nvCxnSpPr>
        <p:spPr>
          <a:xfrm>
            <a:off x="8778240" y="2377440"/>
            <a:ext cx="0" cy="324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线箭头连接符 34"/>
          <p:cNvCxnSpPr>
            <a:stCxn id="21" idx="2"/>
            <a:endCxn id="23" idx="0"/>
          </p:cNvCxnSpPr>
          <p:nvPr/>
        </p:nvCxnSpPr>
        <p:spPr>
          <a:xfrm>
            <a:off x="8778240" y="3140965"/>
            <a:ext cx="0" cy="376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>
            <a:stCxn id="23" idx="2"/>
            <a:endCxn id="25" idx="0"/>
          </p:cNvCxnSpPr>
          <p:nvPr/>
        </p:nvCxnSpPr>
        <p:spPr>
          <a:xfrm>
            <a:off x="8778240" y="3956514"/>
            <a:ext cx="0" cy="357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92" y="6473532"/>
            <a:ext cx="3160776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57616" y="6426714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4722" y="31289"/>
            <a:ext cx="1920240" cy="1011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" y="342900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Logical Hallucination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3873" y="1233262"/>
            <a:ext cx="4395415" cy="1466042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42D69"/>
                </a:solidFill>
                <a:latin typeface="Aptos"/>
              </a:defRPr>
            </a:pPr>
            <a:r>
              <a:rPr dirty="0"/>
              <a:t>Ordinary hallucination: inventing facts.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142D69"/>
                </a:solidFill>
                <a:latin typeface="Aptos"/>
              </a:defRPr>
            </a:pPr>
            <a:r>
              <a:rPr dirty="0"/>
              <a:t>Logical hallucination: producing a plausible but invalid reasoning step.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142D69"/>
                </a:solidFill>
                <a:latin typeface="Aptos"/>
              </a:defRPr>
            </a:pPr>
            <a:r>
              <a:rPr dirty="0"/>
              <a:t>The final answer may be wrong, or even accidentally correct.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04953" y="3082671"/>
            <a:ext cx="4334335" cy="429768"/>
          </a:xfrm>
          <a:prstGeom prst="roundRect">
            <a:avLst/>
          </a:prstGeom>
          <a:solidFill>
            <a:srgbClr val="E1913C"/>
          </a:solidFill>
          <a:ln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148" y="3115068"/>
            <a:ext cx="4581144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Why final answers are not enough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5162" y="3551301"/>
            <a:ext cx="4334335" cy="1156035"/>
          </a:xfrm>
          <a:prstGeom prst="rect">
            <a:avLst/>
          </a:prstGeom>
          <a:solidFill>
            <a:srgbClr val="FCEFDE"/>
          </a:solidFill>
          <a:ln w="7620"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748" y="3576277"/>
            <a:ext cx="4334335" cy="8679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A correct final answer can hide broken reasoning; an incorrect final answer does not reveal where reasoning failed.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27" y="1207008"/>
            <a:ext cx="7620073" cy="43109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4572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9632" y="-5871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997" y="6460236"/>
            <a:ext cx="3209542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504730"/>
            <a:ext cx="28346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8660" y="6412397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1435" y="4572"/>
            <a:ext cx="1987542" cy="10465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176" y="347472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Verifier / Reward Model Setup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" y="2363724"/>
            <a:ext cx="1417320" cy="658368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Problem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91740" y="2240280"/>
            <a:ext cx="1645920" cy="932688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Fixed
Generator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20640" y="1664208"/>
            <a:ext cx="2057400" cy="2057400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Candidate 1
Candidate 2
...
Candidate N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49540" y="2040023"/>
            <a:ext cx="1721857" cy="1228691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Reward</a:t>
            </a:r>
            <a:r>
              <a:rPr lang="en-US" b="0" dirty="0">
                <a:solidFill>
                  <a:srgbClr val="142D69"/>
                </a:solidFill>
                <a:latin typeface="Aptos"/>
              </a:rPr>
              <a:t> </a:t>
            </a:r>
            <a:r>
              <a:rPr lang="en-US" dirty="0">
                <a:solidFill>
                  <a:srgbClr val="142D69"/>
                </a:solidFill>
                <a:latin typeface="Aptos"/>
              </a:rPr>
              <a:t>m</a:t>
            </a:r>
            <a:r>
              <a:rPr b="0" dirty="0">
                <a:solidFill>
                  <a:srgbClr val="142D69"/>
                </a:solidFill>
                <a:latin typeface="Aptos"/>
              </a:rPr>
              <a:t>odel</a:t>
            </a:r>
            <a:r>
              <a:rPr lang="zh-CN" altLang="en-US" b="0" dirty="0">
                <a:solidFill>
                  <a:srgbClr val="142D69"/>
                </a:solidFill>
                <a:latin typeface="Aptos"/>
              </a:rPr>
              <a:t> </a:t>
            </a:r>
            <a:endParaRPr lang="en-US" altLang="zh-CN" b="0" dirty="0">
              <a:solidFill>
                <a:srgbClr val="142D69"/>
              </a:solidFill>
              <a:latin typeface="Aptos"/>
            </a:endParaRPr>
          </a:p>
          <a:p>
            <a:pPr algn="ctr"/>
            <a:r>
              <a:rPr lang="en-US" altLang="zh-CN" dirty="0">
                <a:solidFill>
                  <a:srgbClr val="142D69"/>
                </a:solidFill>
                <a:latin typeface="Aptos"/>
              </a:rPr>
              <a:t>s</a:t>
            </a:r>
            <a:r>
              <a:rPr lang="en-US" altLang="zh-CN" b="0" dirty="0">
                <a:solidFill>
                  <a:srgbClr val="142D69"/>
                </a:solidFill>
                <a:latin typeface="Aptos"/>
              </a:rPr>
              <a:t>cores all candidates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340340" y="2226564"/>
            <a:ext cx="1572768" cy="932688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b="0" dirty="0">
                <a:solidFill>
                  <a:srgbClr val="142D69"/>
                </a:solidFill>
                <a:latin typeface="Aptos"/>
              </a:rPr>
              <a:t>Selected</a:t>
            </a:r>
            <a:r>
              <a:rPr b="0" dirty="0">
                <a:solidFill>
                  <a:srgbClr val="142D69"/>
                </a:solidFill>
                <a:latin typeface="Aptos"/>
              </a:rPr>
              <a:t>
Solution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851660" y="2692908"/>
            <a:ext cx="64008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3" idx="3"/>
          </p:cNvCxnSpPr>
          <p:nvPr/>
        </p:nvCxnSpPr>
        <p:spPr>
          <a:xfrm>
            <a:off x="4137660" y="2706624"/>
            <a:ext cx="98298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" y="2706624"/>
            <a:ext cx="57150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71397" y="2706624"/>
            <a:ext cx="868943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27523" y="2350920"/>
            <a:ext cx="8686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dirty="0">
                <a:solidFill>
                  <a:srgbClr val="142D69"/>
                </a:solidFill>
                <a:latin typeface="Aptos"/>
              </a:rPr>
              <a:t>sample N</a:t>
            </a:r>
            <a:endParaRPr sz="14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46620" y="2337204"/>
            <a:ext cx="50292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dirty="0">
                <a:solidFill>
                  <a:srgbClr val="142D69"/>
                </a:solidFill>
                <a:latin typeface="Aptos"/>
              </a:rPr>
              <a:t>rank</a:t>
            </a:r>
            <a:endParaRPr sz="14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71397" y="2392067"/>
            <a:ext cx="899686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dirty="0">
                <a:solidFill>
                  <a:srgbClr val="142D69"/>
                </a:solidFill>
                <a:latin typeface="Aptos"/>
              </a:rPr>
              <a:t>best-of-N</a:t>
            </a:r>
            <a:endParaRPr sz="14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48840" y="4454039"/>
            <a:ext cx="7955279" cy="428857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42547" y="4502358"/>
            <a:ext cx="7735823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Evaluation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48840" y="4864608"/>
            <a:ext cx="7955279" cy="829425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6856" y="4956048"/>
            <a:ext cx="7699248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The reward model is judged by whether it selects a candidate solution with the correct final answer.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4572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9632" y="-5871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997" y="6460236"/>
            <a:ext cx="3209542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504730"/>
            <a:ext cx="28346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8660" y="6412397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1435" y="4572"/>
            <a:ext cx="1987542" cy="10465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176" y="347472"/>
            <a:ext cx="5815584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GB" sz="2400" b="1" dirty="0">
                <a:solidFill>
                  <a:srgbClr val="142D69"/>
                </a:solidFill>
                <a:latin typeface="Aptos"/>
              </a:rPr>
              <a:t>Method Overview: Step-by-step Pipeline 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40423" y="2378673"/>
            <a:ext cx="1769072" cy="109728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Math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Problem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右箭头 29"/>
          <p:cNvSpPr/>
          <p:nvPr/>
        </p:nvSpPr>
        <p:spPr>
          <a:xfrm>
            <a:off x="2016589" y="2822896"/>
            <a:ext cx="378372" cy="262759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2394961" y="2378673"/>
            <a:ext cx="2375338" cy="109728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Fixed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generator produces step-by-step solutions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5148671" y="2343235"/>
            <a:ext cx="1853237" cy="109728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Reasoning is spilt into explicit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603414" y="2323882"/>
            <a:ext cx="1769072" cy="109728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Best candidate is selected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387375" y="2339967"/>
            <a:ext cx="1769072" cy="109728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Reward model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scores solution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右箭头 34"/>
          <p:cNvSpPr/>
          <p:nvPr/>
        </p:nvSpPr>
        <p:spPr>
          <a:xfrm>
            <a:off x="4777394" y="2822895"/>
            <a:ext cx="371277" cy="262759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右箭头 35"/>
          <p:cNvSpPr/>
          <p:nvPr/>
        </p:nvSpPr>
        <p:spPr>
          <a:xfrm>
            <a:off x="7034808" y="2795500"/>
            <a:ext cx="371277" cy="262759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9194292" y="2822894"/>
            <a:ext cx="371277" cy="262759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20110" y="4130566"/>
            <a:ext cx="10594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Important setting: The paper keeps the generator fixed and studies how different reward-model supervision signals affect selection quality.</a:t>
            </a:r>
            <a:endParaRPr kumimoji="1"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95696" y="0"/>
            <a:ext cx="5906813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738" y="6454839"/>
            <a:ext cx="3114215" cy="4216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9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3326" y="6426714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258" y="5489"/>
            <a:ext cx="1899776" cy="10003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3539" y="342901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Two Supervision Schemes: ORM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3539" y="1138819"/>
            <a:ext cx="4321013" cy="310896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94979" y="1176832"/>
            <a:ext cx="3239761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Outcome-supervised RM (ORM)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4995" y="1453575"/>
            <a:ext cx="4309557" cy="548640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995" y="1545336"/>
            <a:ext cx="3594065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142D69"/>
                </a:solidFill>
                <a:latin typeface="Aptos"/>
              </a:rPr>
              <a:t>Trained from the final answer only.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96707" y="2585290"/>
            <a:ext cx="932688" cy="457200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1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229395" y="2813890"/>
            <a:ext cx="27432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06999" y="2578763"/>
            <a:ext cx="932688" cy="457200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2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439687" y="2813890"/>
            <a:ext cx="27432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14007" y="2564672"/>
            <a:ext cx="932688" cy="457200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3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634740" y="2804736"/>
            <a:ext cx="27432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97105" y="2564672"/>
            <a:ext cx="932688" cy="457200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Answer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353732" y="3369036"/>
            <a:ext cx="2669628" cy="71323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US" sz="1600" dirty="0">
                <a:solidFill>
                  <a:srgbClr val="142D69"/>
                </a:solidFill>
                <a:latin typeface="+mj-lt"/>
                <a:cs typeface="Times New Roman" panose="02020503050405090304" pitchFamily="18" charset="0"/>
              </a:rPr>
              <a:t>Single label: Correct/Wrong</a:t>
            </a:r>
            <a:endParaRPr sz="1600" dirty="0">
              <a:solidFill>
                <a:srgbClr val="142D69"/>
              </a:solidFill>
              <a:latin typeface="+mj-lt"/>
              <a:cs typeface="Times New Roman" panose="02020503050405090304" pitchFamily="18" charset="0"/>
            </a:endParaRPr>
          </a:p>
        </p:txBody>
      </p:sp>
      <p:pic>
        <p:nvPicPr>
          <p:cNvPr id="45" name="图片 44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962" y="1176832"/>
            <a:ext cx="7296474" cy="43652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7954" y="6437864"/>
            <a:ext cx="3258206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3326" y="6417685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0229" y="0"/>
            <a:ext cx="1985141" cy="10453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" y="393192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Why Outcome Supervision Is Limited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9263" y="1690397"/>
            <a:ext cx="5303520" cy="2363724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A negative outcome label says: “something is wrong.”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It does not say which step caused the failure.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On hard problems, most samples are wrong, so a negative label is weak information.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False positives are possible: broken reasoning can reach a correct answer by accident.</a:t>
            </a:r>
            <a:endParaRPr sz="2000" dirty="0"/>
          </a:p>
        </p:txBody>
      </p:sp>
      <p:pic>
        <p:nvPicPr>
          <p:cNvPr id="23" name="图片 22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783" y="1490472"/>
            <a:ext cx="6663526" cy="4132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95696" y="0"/>
            <a:ext cx="5906813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738" y="6454839"/>
            <a:ext cx="3114215" cy="4216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9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3326" y="6426714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258" y="5489"/>
            <a:ext cx="1899776" cy="10003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3539" y="342901"/>
            <a:ext cx="886968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GB" altLang="zh-CN" sz="2400" b="1" dirty="0">
                <a:solidFill>
                  <a:srgbClr val="142D69"/>
                </a:solidFill>
                <a:latin typeface="Aptos"/>
              </a:rPr>
              <a:t>Two Supervision Schemes: PRM</a:t>
            </a:r>
            <a:endParaRPr lang="en-GB" altLang="zh-CN" sz="2400" b="1" dirty="0">
              <a:solidFill>
                <a:srgbClr val="142D69"/>
              </a:solidFill>
              <a:latin typeface="Aptos"/>
            </a:endParaRPr>
          </a:p>
          <a:p>
            <a:pPr algn="l"/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0738" y="1117060"/>
            <a:ext cx="4591022" cy="310896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7788" y="2589190"/>
            <a:ext cx="932688" cy="457200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1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0356" y="3191869"/>
            <a:ext cx="960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1" dirty="0">
                <a:solidFill>
                  <a:srgbClr val="228B5E"/>
                </a:solidFill>
                <a:latin typeface="Aptos"/>
              </a:rPr>
              <a:t>ok</a:t>
            </a:r>
            <a:endParaRPr b="1" dirty="0">
              <a:solidFill>
                <a:srgbClr val="228B5E"/>
              </a:solidFill>
              <a:latin typeface="Apto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350476" y="2817790"/>
            <a:ext cx="18288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57084" y="3200400"/>
            <a:ext cx="960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Aptos"/>
              </a:rPr>
              <a:t>bad</a:t>
            </a:r>
            <a:endParaRPr b="1" dirty="0">
              <a:solidFill>
                <a:srgbClr val="C00000"/>
              </a:solidFill>
              <a:latin typeface="Aptos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2493476" y="2817790"/>
            <a:ext cx="18288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694644" y="2589190"/>
            <a:ext cx="932688" cy="457200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3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63952" y="3200400"/>
            <a:ext cx="960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1" dirty="0">
                <a:solidFill>
                  <a:srgbClr val="C00000"/>
                </a:solidFill>
                <a:latin typeface="Aptos"/>
              </a:rPr>
              <a:t>bad</a:t>
            </a:r>
            <a:endParaRPr b="1" dirty="0">
              <a:solidFill>
                <a:srgbClr val="C00000"/>
              </a:solidFill>
              <a:latin typeface="Aptos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3634740" y="2817790"/>
            <a:ext cx="18288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25028" y="2589190"/>
            <a:ext cx="932688" cy="4572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Stop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41704" y="3521567"/>
            <a:ext cx="1139952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1" dirty="0">
                <a:solidFill>
                  <a:srgbClr val="6E7887"/>
                </a:solidFill>
                <a:latin typeface="Aptos"/>
              </a:rPr>
              <a:t>first error</a:t>
            </a:r>
            <a:endParaRPr b="1" dirty="0">
              <a:solidFill>
                <a:srgbClr val="6E7887"/>
              </a:solidFill>
              <a:latin typeface="Aptos"/>
            </a:endParaRPr>
          </a:p>
        </p:txBody>
      </p:sp>
      <p:sp>
        <p:nvSpPr>
          <p:cNvPr id="44" name="TextBox 16"/>
          <p:cNvSpPr txBox="1"/>
          <p:nvPr/>
        </p:nvSpPr>
        <p:spPr>
          <a:xfrm>
            <a:off x="527516" y="1145829"/>
            <a:ext cx="4349284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Process-supervised RM (PRM)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Rectangle 17"/>
          <p:cNvSpPr/>
          <p:nvPr/>
        </p:nvSpPr>
        <p:spPr>
          <a:xfrm>
            <a:off x="380738" y="1436520"/>
            <a:ext cx="4591022" cy="548640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18"/>
          <p:cNvSpPr txBox="1"/>
          <p:nvPr/>
        </p:nvSpPr>
        <p:spPr>
          <a:xfrm>
            <a:off x="527516" y="1531367"/>
            <a:ext cx="4591022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142D69"/>
                </a:solidFill>
                <a:latin typeface="Aptos"/>
              </a:rPr>
              <a:t>Trained from labels on each reasoning step.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48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548" y="1141482"/>
            <a:ext cx="7816100" cy="4620768"/>
          </a:xfrm>
          <a:prstGeom prst="rect">
            <a:avLst/>
          </a:prstGeom>
        </p:spPr>
      </p:pic>
      <p:sp>
        <p:nvSpPr>
          <p:cNvPr id="50" name="Rounded Rectangle 33"/>
          <p:cNvSpPr/>
          <p:nvPr/>
        </p:nvSpPr>
        <p:spPr>
          <a:xfrm>
            <a:off x="1557084" y="2596269"/>
            <a:ext cx="932688" cy="457200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>
                <a:solidFill>
                  <a:srgbClr val="142D69"/>
                </a:solidFill>
                <a:latin typeface="Aptos"/>
              </a:rPr>
              <a:t>Step </a:t>
            </a:r>
            <a:r>
              <a:rPr lang="en-US" altLang="zh-CN" sz="1600" b="0" dirty="0">
                <a:solidFill>
                  <a:srgbClr val="142D69"/>
                </a:solidFill>
                <a:latin typeface="Aptos"/>
              </a:rPr>
              <a:t>2</a:t>
            </a:r>
            <a:endParaRPr sz="1600"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6331" y="6442001"/>
            <a:ext cx="3366989" cy="5601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US" altLang="zh-CN" sz="900" dirty="0">
              <a:solidFill>
                <a:srgbClr val="FFFFFF"/>
              </a:solidFill>
              <a:latin typeface="Aptos"/>
            </a:endParaRPr>
          </a:p>
          <a:p>
            <a:pPr algn="ctr"/>
            <a:endParaRPr sz="9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6469380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34756" y="6428232"/>
            <a:ext cx="201168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0" dirty="0">
                <a:solidFill>
                  <a:srgbClr val="142D69"/>
                </a:solidFill>
                <a:latin typeface="Aptos"/>
              </a:rPr>
              <a:t>Apr 30, 2026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0"/>
            <a:ext cx="1972792" cy="10387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374166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Research Questions and Main Contributions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" y="1389888"/>
            <a:ext cx="10378440" cy="1389098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Does process supervision train more reliable reward models than outcome supervision on hard math problems?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Can active learning reduce the cost of collecting step-level human feedback?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Do the results survive controlled small-scale ablations and modest distribution shift?</a:t>
            </a:r>
            <a:endParaRPr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800100" y="3154680"/>
            <a:ext cx="9802368" cy="469588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012" y="3185946"/>
            <a:ext cx="9838944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ptos"/>
              </a:rPr>
              <a:t>Headline results</a:t>
            </a:r>
            <a:endParaRPr sz="2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0100" y="3651647"/>
            <a:ext cx="9802368" cy="1674590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12" y="3943761"/>
            <a:ext cx="8518319" cy="9602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000" b="0" dirty="0">
                <a:solidFill>
                  <a:srgbClr val="142D69"/>
                </a:solidFill>
                <a:latin typeface="Aptos"/>
              </a:rPr>
              <a:t>1.</a:t>
            </a:r>
            <a:r>
              <a:rPr sz="2000" b="0" dirty="0">
                <a:solidFill>
                  <a:srgbClr val="142D69"/>
                </a:solidFill>
                <a:latin typeface="Aptos"/>
              </a:rPr>
              <a:t>PRM solves 78.2% of held-out MATH problems with best-of-1860 selection.
</a:t>
            </a:r>
            <a:r>
              <a:rPr lang="en-US" sz="2000" b="0" dirty="0">
                <a:solidFill>
                  <a:srgbClr val="142D69"/>
                </a:solidFill>
                <a:latin typeface="Aptos"/>
              </a:rPr>
              <a:t>2.</a:t>
            </a:r>
            <a:r>
              <a:rPr sz="2000" b="0" dirty="0">
                <a:solidFill>
                  <a:srgbClr val="142D69"/>
                </a:solidFill>
                <a:latin typeface="Aptos"/>
              </a:rPr>
              <a:t>PRM800K contains about 800K human step-level labels.
</a:t>
            </a:r>
            <a:r>
              <a:rPr lang="en-US" sz="2000" b="0" dirty="0">
                <a:solidFill>
                  <a:srgbClr val="142D69"/>
                </a:solidFill>
                <a:latin typeface="Aptos"/>
              </a:rPr>
              <a:t>3.</a:t>
            </a:r>
            <a:r>
              <a:rPr sz="2000" b="0" dirty="0">
                <a:solidFill>
                  <a:srgbClr val="142D69"/>
                </a:solidFill>
                <a:latin typeface="Aptos"/>
              </a:rPr>
              <a:t>Active learning improves data efficiency by about 2.6x.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707" y="6442001"/>
            <a:ext cx="3142593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57616" y="6427812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21431"/>
            <a:ext cx="2008425" cy="10575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690" y="315468"/>
            <a:ext cx="357667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Experimental Scope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1237488"/>
            <a:ext cx="4937760" cy="419124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278" y="1290804"/>
            <a:ext cx="340640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Fixed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1909" y="1649718"/>
            <a:ext cx="4937760" cy="1399032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81456" y="1850910"/>
            <a:ext cx="4578516" cy="8679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The generator at each model scale.
The best-of-N evaluation protocol.
Automatic grading of selected final answers</a:t>
            </a:r>
            <a:r>
              <a:rPr sz="1500" b="0" dirty="0">
                <a:solidFill>
                  <a:srgbClr val="142D69"/>
                </a:solidFill>
                <a:latin typeface="Aptos"/>
              </a:rPr>
              <a:t>.</a:t>
            </a:r>
            <a:endParaRPr sz="15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1234440"/>
            <a:ext cx="4937760" cy="390430"/>
          </a:xfrm>
          <a:prstGeom prst="roundRect">
            <a:avLst/>
          </a:prstGeom>
          <a:solidFill>
            <a:srgbClr val="E1913C"/>
          </a:solidFill>
          <a:ln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280160"/>
            <a:ext cx="4718304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Compared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19088" y="1635036"/>
            <a:ext cx="4937760" cy="1410666"/>
          </a:xfrm>
          <a:prstGeom prst="rect">
            <a:avLst/>
          </a:prstGeom>
          <a:solidFill>
            <a:srgbClr val="FCEFDE"/>
          </a:solidFill>
          <a:ln w="7620"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537960" y="1850910"/>
            <a:ext cx="4681728" cy="8679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How the reward model is supervised.
ORM: final-answer outcome labels.
PRM: step-level process labels.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114098" y="4166721"/>
            <a:ext cx="2011680" cy="566928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Generato</a:t>
            </a:r>
            <a:r>
              <a:rPr lang="en-US" sz="2000" dirty="0">
                <a:solidFill>
                  <a:srgbClr val="142D69"/>
                </a:solidFill>
                <a:latin typeface="Aptos"/>
              </a:rPr>
              <a:t>r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4755" y="4160520"/>
            <a:ext cx="2057400" cy="566928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Reward Model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20209" y="4041648"/>
            <a:ext cx="2557693" cy="80467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No RL training
in this paper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3" name="Connector 22"/>
          <p:cNvCxnSpPr>
            <a:stCxn id="20" idx="3"/>
          </p:cNvCxnSpPr>
          <p:nvPr/>
        </p:nvCxnSpPr>
        <p:spPr>
          <a:xfrm>
            <a:off x="3125778" y="4450185"/>
            <a:ext cx="1527941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21" idx="3"/>
            <a:endCxn id="22" idx="1"/>
          </p:cNvCxnSpPr>
          <p:nvPr/>
        </p:nvCxnSpPr>
        <p:spPr>
          <a:xfrm>
            <a:off x="6722155" y="4443984"/>
            <a:ext cx="1798054" cy="0"/>
          </a:xfrm>
          <a:prstGeom prst="line">
            <a:avLst/>
          </a:prstGeom>
          <a:ln w="17780">
            <a:solidFill>
              <a:srgbClr val="BE3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270714" y="4043874"/>
            <a:ext cx="1093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samples</a:t>
            </a:r>
            <a:endParaRPr kumimoji="1" lang="zh-CN" altLang="en-US" sz="2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023120" y="3797653"/>
            <a:ext cx="1343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not used to update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6144" y="6421009"/>
            <a:ext cx="3451072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8404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3326" y="6421009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6576"/>
            <a:ext cx="1913408" cy="10075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79476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Data and Models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347" y="1616386"/>
            <a:ext cx="5498487" cy="2671501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Large-scale models are fine-tuned from a GPT-4 base model.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Small-scale models use a similar design with roughly 200x less pretraining compute.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Models receive an additional math-focused pretraining stage on </a:t>
            </a:r>
            <a:r>
              <a:rPr sz="2000" dirty="0" err="1"/>
              <a:t>MathMix</a:t>
            </a:r>
            <a:r>
              <a:rPr sz="2000" dirty="0"/>
              <a:t>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The generator is fine-tuned to produce newline-delimited step-by-step solutions.</a:t>
            </a:r>
            <a:endParaRPr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6492239" y="1492902"/>
            <a:ext cx="4848421" cy="401169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01967" y="1495627"/>
            <a:ext cx="4489704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Benchmark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92238" y="1922633"/>
            <a:ext cx="4848422" cy="2500670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601967" y="2049519"/>
            <a:ext cx="4570529" cy="21913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dirty="0">
                <a:solidFill>
                  <a:srgbClr val="142D69"/>
                </a:solidFill>
                <a:latin typeface="Aptos"/>
              </a:rPr>
              <a:t>MATH dataset: challenging competition-style problems.
Final evaluation: 500 held-out MATH test problems.
Some test-split problems were used for PRM800K training, so the authors reserve a clean subset.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3471" y="6417301"/>
            <a:ext cx="3396418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08852" y="6424886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4533" y="-8909"/>
            <a:ext cx="1892388" cy="996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176" y="362706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PRM800K: Collecting Process Supervision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856" y="1785708"/>
            <a:ext cx="5517405" cy="2979277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sz="2000" dirty="0"/>
              <a:t>1.</a:t>
            </a:r>
            <a:r>
              <a:rPr sz="2000" dirty="0"/>
              <a:t>Human labelers inspect model-generated solutions step by step.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sz="2000" dirty="0">
                <a:solidFill>
                  <a:srgbClr val="002060"/>
                </a:solidFill>
              </a:rPr>
              <a:t>2.</a:t>
            </a:r>
            <a:r>
              <a:rPr sz="2000" dirty="0">
                <a:solidFill>
                  <a:srgbClr val="002060"/>
                </a:solidFill>
              </a:rPr>
              <a:t>Each step receives one label: </a:t>
            </a:r>
            <a:endParaRPr lang="en-US" sz="2000" dirty="0">
              <a:solidFill>
                <a:srgbClr val="002060"/>
              </a:solidFill>
            </a:endParaRPr>
          </a:p>
          <a:p>
            <a:r>
              <a:rPr lang="en-GB" sz="2000" dirty="0">
                <a:solidFill>
                  <a:srgbClr val="002060"/>
                </a:solidFill>
                <a:latin typeface="Aptos" panose="020B0004020202020204" pitchFamily="34" charset="0"/>
              </a:rPr>
              <a:t>   </a:t>
            </a:r>
            <a:r>
              <a:rPr lang="en-GB" sz="2000" dirty="0" err="1">
                <a:solidFill>
                  <a:srgbClr val="002060"/>
                </a:solidFill>
                <a:latin typeface="Aptos" panose="020B0004020202020204" pitchFamily="34" charset="0"/>
              </a:rPr>
              <a:t>a.positive</a:t>
            </a: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: </a:t>
            </a:r>
            <a:r>
              <a:rPr lang="en-GB" altLang="zh-CN" sz="2000" dirty="0">
                <a:solidFill>
                  <a:srgbClr val="002060"/>
                </a:solidFill>
                <a:latin typeface="Aptos" panose="020B0004020202020204" pitchFamily="34" charset="0"/>
              </a:rPr>
              <a:t>correct and helpful;</a:t>
            </a:r>
            <a:r>
              <a:rPr sz="20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endParaRPr lang="en-US" sz="20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   </a:t>
            </a:r>
            <a:r>
              <a:rPr lang="en-US" sz="2000" dirty="0" err="1">
                <a:solidFill>
                  <a:srgbClr val="002060"/>
                </a:solidFill>
                <a:latin typeface="Aptos" panose="020B0004020202020204" pitchFamily="34" charset="0"/>
              </a:rPr>
              <a:t>b.</a:t>
            </a:r>
            <a:r>
              <a:rPr sz="2000" dirty="0" err="1">
                <a:solidFill>
                  <a:srgbClr val="002060"/>
                </a:solidFill>
                <a:latin typeface="Aptos" panose="020B0004020202020204" pitchFamily="34" charset="0"/>
              </a:rPr>
              <a:t>negative</a:t>
            </a: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:</a:t>
            </a:r>
            <a:r>
              <a:rPr lang="en-GB" altLang="zh-CN" sz="2000" dirty="0">
                <a:solidFill>
                  <a:srgbClr val="002060"/>
                </a:solidFill>
                <a:latin typeface="Aptos" panose="020B0004020202020204" pitchFamily="34" charset="0"/>
              </a:rPr>
              <a:t> incorrect or unreasonable</a:t>
            </a:r>
            <a:endParaRPr lang="en-US" sz="20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GB" sz="2000" dirty="0">
                <a:solidFill>
                  <a:srgbClr val="002060"/>
                </a:solidFill>
                <a:latin typeface="Aptos" panose="020B0004020202020204" pitchFamily="34" charset="0"/>
              </a:rPr>
              <a:t>   </a:t>
            </a:r>
            <a:r>
              <a:rPr lang="en-GB" sz="2000" dirty="0" err="1">
                <a:solidFill>
                  <a:srgbClr val="002060"/>
                </a:solidFill>
                <a:latin typeface="Aptos" panose="020B0004020202020204" pitchFamily="34" charset="0"/>
              </a:rPr>
              <a:t>c.neutral</a:t>
            </a: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: </a:t>
            </a:r>
            <a:r>
              <a:rPr lang="en-GB" altLang="zh-CN" sz="2000" dirty="0">
                <a:solidFill>
                  <a:srgbClr val="002060"/>
                </a:solidFill>
                <a:latin typeface="Aptos" panose="020B0004020202020204" pitchFamily="34" charset="0"/>
              </a:rPr>
              <a:t>ambiguous or technically valid</a:t>
            </a:r>
            <a:endParaRPr lang="en-GB" altLang="zh-CN" sz="20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GB" altLang="zh-CN" sz="2000" dirty="0">
                <a:solidFill>
                  <a:srgbClr val="002060"/>
                </a:solidFill>
                <a:latin typeface="Aptos" panose="020B0004020202020204" pitchFamily="34" charset="0"/>
              </a:rPr>
              <a:t>   but unhelpful.</a:t>
            </a:r>
            <a:endParaRPr sz="2000" dirty="0">
              <a:solidFill>
                <a:srgbClr val="002060"/>
              </a:solidFill>
            </a:endParaRPr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sz="2000" dirty="0"/>
              <a:t>3.</a:t>
            </a:r>
            <a:r>
              <a:rPr sz="2000" dirty="0"/>
              <a:t>Labels are collected only up to the first incorrect step</a:t>
            </a:r>
            <a:r>
              <a:rPr dirty="0"/>
              <a:t>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629400" y="1143000"/>
            <a:ext cx="4480560" cy="438912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Step 1   positive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29400" y="1801368"/>
            <a:ext cx="4480560" cy="438912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Step 2   positive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29400" y="2459736"/>
            <a:ext cx="4480560" cy="438912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Step 3   neutral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29400" y="3118104"/>
            <a:ext cx="4480560" cy="43891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Step 4   negative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3977639"/>
            <a:ext cx="283464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1" dirty="0">
                <a:solidFill>
                  <a:srgbClr val="142D69"/>
                </a:solidFill>
                <a:latin typeface="Aptos"/>
              </a:rPr>
              <a:t>stop labeling after
the first mistake</a:t>
            </a:r>
            <a:endParaRPr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29400" y="4800600"/>
            <a:ext cx="4648200" cy="359652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4849374"/>
            <a:ext cx="4261104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Scale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29399" y="5166360"/>
            <a:ext cx="4648201" cy="731520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8" y="5201418"/>
            <a:ext cx="4910014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800K step labels, 75K solutions, 12K problems</a:t>
            </a:r>
            <a:r>
              <a:rPr sz="1500" b="0" dirty="0">
                <a:solidFill>
                  <a:srgbClr val="142D69"/>
                </a:solidFill>
                <a:latin typeface="Aptos"/>
              </a:rPr>
              <a:t>.</a:t>
            </a:r>
            <a:endParaRPr sz="1500"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0985" y="6438322"/>
            <a:ext cx="3312335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52460" y="6421850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91440"/>
            <a:ext cx="1892388" cy="996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383930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PRM Scoring: From Steps to a Solution Score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1738" y="1327172"/>
            <a:ext cx="5473262" cy="1337802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The PRM predicts a label distribution after each step.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At test time, one forward pass scores the whole solution.</a:t>
            </a:r>
            <a:endParaRPr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41738" y="2860449"/>
                <a:ext cx="5473262" cy="151798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 anchor="t">
                <a:spAutoFit/>
              </a:bodyPr>
              <a:lstStyle/>
              <a:p>
                <a:pPr algn="l"/>
                <a:r>
                  <a:rPr lang="en-US" sz="2000" dirty="0">
                    <a:solidFill>
                      <a:srgbClr val="142D69"/>
                    </a:solidFill>
                    <a:latin typeface="Aptos"/>
                  </a:rPr>
                  <a:t>The</a:t>
                </a:r>
                <a:r>
                  <a:rPr lang="zh-CN" altLang="en-US" sz="2000" dirty="0">
                    <a:solidFill>
                      <a:srgbClr val="142D69"/>
                    </a:solidFill>
                    <a:latin typeface="Aptos"/>
                  </a:rPr>
                  <a:t> </a:t>
                </a:r>
                <a:r>
                  <a:rPr lang="en-US" altLang="zh-CN" sz="2000" dirty="0">
                    <a:solidFill>
                      <a:srgbClr val="142D69"/>
                    </a:solidFill>
                    <a:latin typeface="Aptos"/>
                  </a:rPr>
                  <a:t>paper</a:t>
                </a:r>
                <a:r>
                  <a:rPr lang="zh-CN" altLang="en-US" sz="2000" dirty="0">
                    <a:solidFill>
                      <a:srgbClr val="142D69"/>
                    </a:solidFill>
                    <a:latin typeface="Aptos"/>
                  </a:rPr>
                  <a:t> </a:t>
                </a:r>
                <a:r>
                  <a:rPr lang="en-US" altLang="zh-CN" sz="2000" dirty="0">
                    <a:solidFill>
                      <a:srgbClr val="142D69"/>
                    </a:solidFill>
                    <a:latin typeface="Aptos"/>
                  </a:rPr>
                  <a:t>use</a:t>
                </a:r>
                <a:r>
                  <a:rPr lang="zh-CN" altLang="en-US" sz="2000" dirty="0">
                    <a:solidFill>
                      <a:srgbClr val="142D69"/>
                    </a:solidFill>
                    <a:latin typeface="Aptos"/>
                  </a:rPr>
                  <a:t>：</a:t>
                </a:r>
                <a:endParaRPr lang="en-US" altLang="zh-CN" sz="2000" dirty="0">
                  <a:solidFill>
                    <a:srgbClr val="142D69"/>
                  </a:solidFill>
                  <a:latin typeface="Aptos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1" dirty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1" dirty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PRM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dirty="0" smtClean="0">
                          <a:solidFill>
                            <a:srgbClr val="142D6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CN" sz="2000" b="0" i="1" dirty="0" smtClean="0">
                              <a:solidFill>
                                <a:srgbClr val="142D69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142D69"/>
                  </a:solidFill>
                  <a:latin typeface="Aptos"/>
                </a:endParaRPr>
              </a:p>
              <a:p>
                <a:pPr algn="l"/>
                <a:endParaRPr sz="2000" dirty="0">
                  <a:solidFill>
                    <a:srgbClr val="142D69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38" y="2860449"/>
                <a:ext cx="5473262" cy="1517980"/>
              </a:xfrm>
              <a:prstGeom prst="rect">
                <a:avLst/>
              </a:prstGeom>
              <a:blipFill rotWithShape="1">
                <a:blip r:embed="rId2"/>
                <a:stretch>
                  <a:fillRect l="-8" t="-2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400800" y="1828800"/>
            <a:ext cx="868680" cy="502920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0.98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2084831"/>
            <a:ext cx="27432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43800" y="1828800"/>
            <a:ext cx="868680" cy="502920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0.91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2084831"/>
            <a:ext cx="27432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0" y="1828800"/>
            <a:ext cx="868680" cy="502920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0.87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9555480" y="2084831"/>
            <a:ext cx="274320" cy="0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9800" y="1828800"/>
            <a:ext cx="868680" cy="502920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142D69"/>
                </a:solidFill>
                <a:latin typeface="Aptos"/>
              </a:rPr>
              <a:t>0.42</a:t>
            </a:r>
            <a:endParaRPr sz="14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629400" y="3063240"/>
            <a:ext cx="4251960" cy="502920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42D69"/>
                </a:solidFill>
                <a:latin typeface="Aptos"/>
              </a:rPr>
              <a:t>solution score = product</a:t>
            </a:r>
            <a:endParaRPr sz="16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0" y="4069080"/>
            <a:ext cx="2926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42D69"/>
                </a:solidFill>
                <a:latin typeface="Aptos"/>
              </a:rPr>
              <a:t>A high score requires
all steps to look reliable.</a:t>
            </a:r>
            <a:endParaRPr sz="1600" b="1">
              <a:solidFill>
                <a:srgbClr val="142D69"/>
              </a:solidFill>
              <a:latin typeface="Apto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7655" y="4170308"/>
            <a:ext cx="52131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000" dirty="0">
                <a:solidFill>
                  <a:srgbClr val="002060"/>
                </a:solidFill>
              </a:rPr>
              <a:t>Neutral labels are treated as positive by default</a:t>
            </a:r>
            <a:r>
              <a:rPr lang="en-GB" altLang="zh-CN" sz="2000" dirty="0"/>
              <a:t>.</a:t>
            </a:r>
            <a:endParaRPr lang="en-GB" altLang="zh-CN" sz="2000" dirty="0"/>
          </a:p>
          <a:p>
            <a:endParaRPr kumimoji="1"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7524" y="6473532"/>
            <a:ext cx="3188313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6516763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34756" y="6432106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142" y="91694"/>
            <a:ext cx="1746320" cy="9195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094" y="422079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142D69"/>
                </a:solidFill>
                <a:latin typeface="Aptos"/>
              </a:rPr>
              <a:t>Main Result 1: Large-scale PRM Beats ORM</a:t>
            </a:r>
            <a:endParaRPr sz="24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996" y="1563352"/>
            <a:ext cx="5070124" cy="896656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dirty="0"/>
              <a:t>Evaluation: best-of-N search over generator samples.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dirty="0"/>
              <a:t>PRM outperforms ORM and majority voting for all N.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dirty="0"/>
              <a:t>The gap grows as N increases.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75488" y="3067812"/>
            <a:ext cx="4709160" cy="310896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113532"/>
            <a:ext cx="4489704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Best-of-1860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5488" y="3360420"/>
            <a:ext cx="4709160" cy="484632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451860"/>
            <a:ext cx="4453128" cy="3749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142D69"/>
                </a:solidFill>
                <a:latin typeface="Aptos"/>
              </a:rPr>
              <a:t>PRM: 78.2%     ORM: 72.4%     Majority vote: 69.6%</a:t>
            </a:r>
            <a:endParaRPr sz="1500" b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504" y="1133987"/>
            <a:ext cx="6364448" cy="50120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497" y="6428232"/>
            <a:ext cx="3061663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6740" y="6421850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141" y="73867"/>
            <a:ext cx="1787284" cy="9411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29768"/>
            <a:ext cx="8869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142D69"/>
                </a:solidFill>
                <a:latin typeface="Aptos"/>
              </a:rPr>
              <a:t>Why the Large-scale Comparison Is Not Enough</a:t>
            </a:r>
            <a:endParaRPr sz="20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1234439"/>
            <a:ext cx="5166360" cy="398747"/>
          </a:xfrm>
          <a:prstGeom prst="roundRect">
            <a:avLst/>
          </a:prstGeom>
          <a:solidFill>
            <a:srgbClr val="E1913C"/>
          </a:solidFill>
          <a:ln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280160"/>
            <a:ext cx="4946904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Confounder 1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1633187"/>
            <a:ext cx="5166360" cy="1627632"/>
          </a:xfrm>
          <a:prstGeom prst="rect">
            <a:avLst/>
          </a:prstGeom>
          <a:solidFill>
            <a:srgbClr val="FCEFDE"/>
          </a:solidFill>
          <a:ln w="7620"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773936"/>
            <a:ext cx="4910328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The ORM and PRM training sets are not directly comparable.
PRM800K is shaped by active learning; ORM uses a larger uniformly sampled dataset.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1234440"/>
            <a:ext cx="5166360" cy="383738"/>
          </a:xfrm>
          <a:prstGeom prst="roundRect">
            <a:avLst/>
          </a:prstGeom>
          <a:solidFill>
            <a:srgbClr val="E1913C"/>
          </a:solidFill>
          <a:ln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280160"/>
            <a:ext cx="4946904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Confounder 2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0" y="1633187"/>
            <a:ext cx="5166360" cy="1627632"/>
          </a:xfrm>
          <a:prstGeom prst="rect">
            <a:avLst/>
          </a:prstGeom>
          <a:solidFill>
            <a:srgbClr val="FCEFDE"/>
          </a:solidFill>
          <a:ln w="7620"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7668" y="1773936"/>
            <a:ext cx="4910328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Final-answer grading can mislabel broken reasoning.
Correct answer with invalid reasoning becomes a false positive.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97280" y="4145821"/>
            <a:ext cx="9875520" cy="462755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19" y="4215694"/>
            <a:ext cx="9656064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Solution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97280" y="4590287"/>
            <a:ext cx="9875520" cy="634525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5" y="4681728"/>
            <a:ext cx="9619488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Use a large PRM as a synthetic supervisor to run controlled small-scale ablations.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211" y="6473952"/>
            <a:ext cx="3093194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9628" y="6510040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90770" y="6421430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0" y="-4280"/>
            <a:ext cx="2024030" cy="10657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29768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142D69"/>
                </a:solidFill>
                <a:latin typeface="Aptos"/>
              </a:rPr>
              <a:t>Main Result 2: Controlled Small-scale Ablation</a:t>
            </a:r>
            <a:endParaRPr sz="20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903009"/>
            <a:ext cx="5334000" cy="3562985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Train three small-scale reward models on the same sampled datasets.</a:t>
            </a:r>
            <a:endParaRPr lang="en-US" altLang="zh-CN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Use the same small-scale architecture and training pipeline.</a:t>
            </a:r>
            <a:endParaRPr lang="en-US" altLang="zh-CN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Only the supervision type changes.</a:t>
            </a:r>
            <a:endParaRPr lang="en-US" altLang="zh-CN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Finding:</a:t>
            </a:r>
            <a:endParaRPr lang="en-US" altLang="zh-CN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Process supervision consistently outperforms both forms of outcome supervision under matched training conditions.</a:t>
            </a:r>
            <a:endParaRPr lang="en-US" altLang="zh-CN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This means the PRM advantage is not only a data-collection artifact; it also comes from the supervision type itself.</a:t>
            </a:r>
            <a:endParaRPr lang="en-US" altLang="zh-CN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775" y="1123950"/>
            <a:ext cx="6104890" cy="40665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864"/>
            <a:ext cx="320040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84042"/>
            <a:ext cx="28346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3326" y="6421850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91440"/>
            <a:ext cx="1787284" cy="9411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4310" y="338155"/>
            <a:ext cx="5901690" cy="12661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142D69"/>
                </a:solidFill>
                <a:latin typeface="Aptos"/>
              </a:rPr>
              <a:t>Main Result 3: Active Learning </a:t>
            </a:r>
            <a:r>
              <a:rPr lang="en-US" altLang="zh-CN" sz="2000" b="1" dirty="0">
                <a:solidFill>
                  <a:srgbClr val="142D69"/>
                </a:solidFill>
                <a:latin typeface="Aptos"/>
              </a:rPr>
              <a:t>Improves Label Efficiency</a:t>
            </a:r>
            <a:endParaRPr lang="en-US" altLang="zh-CN" sz="2000" b="1" dirty="0">
              <a:solidFill>
                <a:srgbClr val="142D69"/>
              </a:solidFill>
              <a:latin typeface="Aptos"/>
            </a:endParaRPr>
          </a:p>
          <a:p>
            <a:pPr algn="l"/>
            <a:endParaRPr lang="en-US" altLang="zh-CN" sz="2000" b="1" dirty="0">
              <a:solidFill>
                <a:srgbClr val="142D69"/>
              </a:solidFill>
              <a:latin typeface="Aptos"/>
            </a:endParaRPr>
          </a:p>
          <a:p>
            <a:pPr algn="l"/>
            <a:endParaRPr lang="en-US" altLang="zh-CN" sz="20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0185" y="1195705"/>
            <a:ext cx="5448935" cy="2517775"/>
          </a:xfrm>
          <a:prstGeom prst="rect">
            <a:avLst/>
          </a:prstGeom>
          <a:noFill/>
        </p:spPr>
        <p:txBody>
          <a:bodyPr wrap="square" lIns="73152" tIns="27432" rIns="45720" bIns="27432">
            <a:no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sz="1400" dirty="0"/>
              <a:t>Uniform labeling spends effort on many low-information solutions.</a:t>
            </a:r>
            <a:endParaRPr lang="en-US" altLang="zh-CN" sz="14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sz="1400" dirty="0"/>
              <a:t>The authors instead prioritize “convincing wrong-answer” solutions:</a:t>
            </a:r>
            <a:endParaRPr lang="en-US" altLang="zh-CN" sz="14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sz="1400" dirty="0"/>
              <a:t>high score under the current PRM;</a:t>
            </a:r>
            <a:endParaRPr lang="en-US" altLang="zh-CN" sz="14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sz="1400" dirty="0"/>
              <a:t>incorrect final answer.</a:t>
            </a:r>
            <a:endParaRPr lang="en-US" altLang="zh-CN" sz="14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lang="en-US" altLang="zh-CN" sz="1400" dirty="0"/>
              <a:t>These are the samples most likely to reveal subtle reasoning mistakes.</a:t>
            </a:r>
            <a:r>
              <a:rPr sz="1400" dirty="0"/>
              <a:t>These examples expose where the PRM is currently fooled.</a:t>
            </a:r>
            <a:endParaRPr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371475" y="3105128"/>
            <a:ext cx="3840480" cy="438912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142D69"/>
                </a:solidFill>
                <a:latin typeface="Aptos"/>
              </a:rPr>
              <a:t>1000 generated solutions</a:t>
            </a:r>
            <a:endParaRPr sz="1300" b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175612" y="3544040"/>
            <a:ext cx="0" cy="292608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1475" y="3803330"/>
            <a:ext cx="3840480" cy="438912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142D69"/>
                </a:solidFill>
                <a:latin typeface="Aptos"/>
              </a:rPr>
              <a:t>score with current PRM</a:t>
            </a:r>
            <a:endParaRPr sz="1300" b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164771" y="4242241"/>
            <a:ext cx="0" cy="292609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1475" y="4470850"/>
            <a:ext cx="3840480" cy="438912"/>
          </a:xfrm>
          <a:prstGeom prst="roundRect">
            <a:avLst/>
          </a:prstGeom>
          <a:solidFill>
            <a:srgbClr val="FAE5E5"/>
          </a:solidFill>
          <a:ln w="12700">
            <a:solidFill>
              <a:srgbClr val="BE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142D69"/>
                </a:solidFill>
                <a:latin typeface="Aptos"/>
              </a:rPr>
              <a:t>select high-scoring wrong answers</a:t>
            </a:r>
            <a:endParaRPr sz="1300" b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185828" y="4909762"/>
            <a:ext cx="0" cy="292609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1475" y="5203957"/>
            <a:ext cx="3840480" cy="438912"/>
          </a:xfrm>
          <a:prstGeom prst="roundRect">
            <a:avLst/>
          </a:prstGeom>
          <a:solidFill>
            <a:srgbClr val="E2F4EC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 dirty="0">
                <a:solidFill>
                  <a:srgbClr val="142D69"/>
                </a:solidFill>
                <a:latin typeface="Aptos"/>
              </a:rPr>
              <a:t>send to human labelers</a:t>
            </a:r>
            <a:endParaRPr sz="1300" b="0" dirty="0">
              <a:solidFill>
                <a:srgbClr val="142D69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2175612" y="5642869"/>
            <a:ext cx="0" cy="292608"/>
          </a:xfrm>
          <a:prstGeom prst="line">
            <a:avLst/>
          </a:prstGeom>
          <a:ln w="17780">
            <a:solidFill>
              <a:srgbClr val="14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1475" y="5914171"/>
            <a:ext cx="3840480" cy="438912"/>
          </a:xfrm>
          <a:prstGeom prst="roundRect">
            <a:avLst/>
          </a:prstGeom>
          <a:solidFill>
            <a:srgbClr val="DFE6F6"/>
          </a:solidFill>
          <a:ln w="1270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142D69"/>
                </a:solidFill>
                <a:latin typeface="Aptos"/>
              </a:rPr>
              <a:t>retrain PRM</a:t>
            </a:r>
            <a:endParaRPr sz="1300" b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62784" y="5171023"/>
            <a:ext cx="7326168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2060"/>
                </a:solidFill>
              </a:rPr>
              <a:t>Active learning gives the PRM more informative training data and improves label efficiency by focusing annotation on the most valuable errors.</a:t>
            </a:r>
            <a:endParaRPr kumimoji="1" lang="en-US" altLang="zh-CN" dirty="0">
              <a:solidFill>
                <a:srgbClr val="002060"/>
              </a:solidFill>
            </a:endParaRPr>
          </a:p>
          <a:p>
            <a:endParaRPr kumimoji="1" lang="en-US" altLang="zh-CN" dirty="0">
              <a:solidFill>
                <a:srgbClr val="002060"/>
              </a:solidFill>
            </a:endParaRPr>
          </a:p>
          <a:p>
            <a:endParaRPr kumimoji="1" lang="en-US" altLang="zh-CN" dirty="0">
              <a:solidFill>
                <a:srgbClr val="002060"/>
              </a:solidFill>
            </a:endParaRPr>
          </a:p>
        </p:txBody>
      </p:sp>
      <p:cxnSp>
        <p:nvCxnSpPr>
          <p:cNvPr id="32" name="直线连接符 31"/>
          <p:cNvCxnSpPr>
            <a:stCxn id="25" idx="3"/>
          </p:cNvCxnSpPr>
          <p:nvPr/>
        </p:nvCxnSpPr>
        <p:spPr>
          <a:xfrm>
            <a:off x="4211955" y="6133627"/>
            <a:ext cx="388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 flipV="1">
            <a:off x="4600212" y="4022634"/>
            <a:ext cx="0" cy="2110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>
            <a:endCxn id="19" idx="3"/>
          </p:cNvCxnSpPr>
          <p:nvPr/>
        </p:nvCxnSpPr>
        <p:spPr>
          <a:xfrm flipH="1">
            <a:off x="4211955" y="4022786"/>
            <a:ext cx="388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1" y="1060831"/>
            <a:ext cx="5658770" cy="41415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001" y="6452511"/>
            <a:ext cx="3179117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411325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6790"/>
            <a:ext cx="2001170" cy="10537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29768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142D69"/>
                </a:solidFill>
                <a:latin typeface="Aptos"/>
              </a:rPr>
              <a:t>Out-of-distribution Generalization</a:t>
            </a:r>
            <a:endParaRPr sz="2000" b="1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732125"/>
            <a:ext cx="5138202" cy="1696875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Test set: recent AP Physics, AP Calculus, AP Chemistry, AMC10/12 problems.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These exams were released after pretraining data was compiled.</a:t>
            </a:r>
            <a:endParaRPr sz="2000" dirty="0"/>
          </a:p>
          <a:p>
            <a:pPr>
              <a:spcAft>
                <a:spcPts val="400"/>
              </a:spcAft>
              <a:defRPr sz="1600">
                <a:solidFill>
                  <a:srgbClr val="142D69"/>
                </a:solidFill>
                <a:latin typeface="Aptos"/>
              </a:defRPr>
            </a:pPr>
            <a:r>
              <a:rPr sz="2000" dirty="0"/>
              <a:t>Evaluation: best-of-100.</a:t>
            </a:r>
            <a:endParaRPr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713232" y="3633780"/>
            <a:ext cx="4754880" cy="448056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5434"/>
            <a:ext cx="4535424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Meaning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32" y="4030030"/>
            <a:ext cx="4754880" cy="944220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73180"/>
            <a:ext cx="4498848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PRM's advantage is not limited to the MATH held-out subset.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113" y="1487429"/>
            <a:ext cx="5610577" cy="33172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8372" y="6473952"/>
            <a:ext cx="3324948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73952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6740" y="6431940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789" y="38745"/>
            <a:ext cx="1923446" cy="10128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29768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2D69"/>
                </a:solidFill>
                <a:latin typeface="Aptos"/>
              </a:rPr>
              <a:t>Alignment Perspective</a:t>
            </a:r>
            <a:endParaRPr sz="2000" b="1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327" y="4301020"/>
            <a:ext cx="10424160" cy="2003425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altLang="zh-CN" sz="2000" dirty="0"/>
              <a:t>Alignment is often assumed to come with a cost: safer or more human-aligned systems may become less efficient or less performant.</a:t>
            </a:r>
            <a:endParaRPr lang="en-US" altLang="zh-CN" sz="2000"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altLang="zh-CN" sz="2000" dirty="0"/>
              <a:t>In this paper, process supervision is more aligned with what we actually want to reward: not just a correct final answer, but a correct visible reasoning process.</a:t>
            </a:r>
            <a:endParaRPr lang="en-US" altLang="zh-CN" sz="2000"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altLang="zh-CN" sz="2000" b="1" dirty="0"/>
              <a:t>Process supervision is stronger </a:t>
            </a:r>
            <a:r>
              <a:rPr lang="en-US" altLang="zh-CN" sz="2000" b="1" dirty="0"/>
              <a:t>since it provides a more local, denser, and more interpretable training signal for evaluating reasoning quality.</a:t>
            </a:r>
            <a:endParaRPr lang="en-US" altLang="zh-CN" sz="20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895985" y="1253997"/>
            <a:ext cx="10058400" cy="494753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713" y="1318527"/>
            <a:ext cx="9838944" cy="3124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Aptos"/>
              </a:rPr>
              <a:t>A</a:t>
            </a:r>
            <a:r>
              <a:rPr b="1" dirty="0">
                <a:solidFill>
                  <a:srgbClr val="FFFFFF"/>
                </a:solidFill>
                <a:latin typeface="Aptos"/>
              </a:rPr>
              <a:t>lignment tax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5985" y="1748750"/>
            <a:ext cx="10052304" cy="749809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954" y="1865041"/>
            <a:ext cx="9802368" cy="3124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altLang="zh-CN" b="0" dirty="0">
                <a:solidFill>
                  <a:srgbClr val="142D69"/>
                </a:solidFill>
                <a:latin typeface="Aptos"/>
              </a:rPr>
              <a:t>the performance or efficiency cost of making a model more aligned with human intentions.</a:t>
            </a:r>
            <a:endParaRPr lang="en-US" altLang="zh-CN" b="0" dirty="0">
              <a:solidFill>
                <a:srgbClr val="142D69"/>
              </a:solidFill>
              <a:latin typeface="Aptos"/>
            </a:endParaRPr>
          </a:p>
        </p:txBody>
      </p:sp>
      <p:sp>
        <p:nvSpPr>
          <p:cNvPr id="17" name="Rounded Rectangle 12"/>
          <p:cNvSpPr/>
          <p:nvPr/>
        </p:nvSpPr>
        <p:spPr>
          <a:xfrm>
            <a:off x="961390" y="2616707"/>
            <a:ext cx="10058400" cy="494753"/>
          </a:xfrm>
          <a:prstGeom prst="roundRect">
            <a:avLst/>
          </a:prstGeom>
          <a:solidFill>
            <a:srgbClr val="142D69"/>
          </a:solidFill>
          <a:ln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8" name="TextBox 13"/>
          <p:cNvSpPr txBox="1"/>
          <p:nvPr/>
        </p:nvSpPr>
        <p:spPr>
          <a:xfrm>
            <a:off x="1071118" y="2681237"/>
            <a:ext cx="9838944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Negative alignment tax</a:t>
            </a:r>
            <a:endParaRPr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4"/>
          <p:cNvSpPr/>
          <p:nvPr/>
        </p:nvSpPr>
        <p:spPr>
          <a:xfrm>
            <a:off x="961390" y="3111460"/>
            <a:ext cx="10052304" cy="749809"/>
          </a:xfrm>
          <a:prstGeom prst="rect">
            <a:avLst/>
          </a:prstGeom>
          <a:solidFill>
            <a:srgbClr val="DFE6F6"/>
          </a:solidFill>
          <a:ln w="7620">
            <a:solidFill>
              <a:srgbClr val="14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TextBox 15"/>
          <p:cNvSpPr txBox="1"/>
          <p:nvPr/>
        </p:nvSpPr>
        <p:spPr>
          <a:xfrm>
            <a:off x="1005654" y="3152821"/>
            <a:ext cx="9802368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p>
            <a:pPr algn="l"/>
            <a:r>
              <a:rPr lang="en-US" altLang="zh-CN" b="0" dirty="0">
                <a:solidFill>
                  <a:srgbClr val="142D69"/>
                </a:solidFill>
                <a:latin typeface="Aptos"/>
              </a:rPr>
              <a:t>a case where a more alignment-friendly method does not hurt performance, and may even improve it.</a:t>
            </a:r>
            <a:endParaRPr lang="en-US" altLang="zh-CN" b="0" dirty="0">
              <a:solidFill>
                <a:srgbClr val="142D69"/>
              </a:solidFill>
              <a:latin typeface="Aptos"/>
            </a:endParaRPr>
          </a:p>
          <a:p>
            <a:pPr algn="l"/>
            <a:endParaRPr lang="en-US" altLang="zh-CN" b="0" dirty="0">
              <a:solidFill>
                <a:srgbClr val="142D69"/>
              </a:solidFill>
              <a:latin typeface="Aptos"/>
            </a:endParaRPr>
          </a:p>
          <a:p>
            <a:pPr algn="l"/>
            <a:endParaRPr lang="en-US" altLang="zh-CN"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52511"/>
            <a:ext cx="333756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4740" y="6488599"/>
            <a:ext cx="2834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6740" y="6452511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0030" y="60779"/>
            <a:ext cx="1892388" cy="996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29768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2D69"/>
                </a:solidFill>
                <a:latin typeface="Aptos"/>
              </a:rPr>
              <a:t>Limitations and Discussion</a:t>
            </a:r>
            <a:endParaRPr sz="2000" b="1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690" y="1274918"/>
            <a:ext cx="10424160" cy="295783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dirty="0"/>
              <a:t>Domain: math reasoning has relatively checkable steps.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The main evidence comes from mathematical reasoning, where solutions are relatively structured.</a:t>
            </a:r>
            <a:endParaRPr lang="en-US" altLang="zh-CN"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Final answers are often easy to check.</a:t>
            </a:r>
            <a:endParaRPr lang="en-US" altLang="zh-CN"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altLang="zh-CN" dirty="0"/>
              <a:t>Step-level labels are therefore much easier to define than in open-domain reasoning..</a:t>
            </a:r>
            <a:endParaRPr lang="en-US" altLang="zh-CN"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dirty="0">
                <a:sym typeface="+mn-ea"/>
              </a:rPr>
              <a:t>Cost: step-level human feedback is expensive.</a:t>
            </a:r>
            <a:endParaRPr dirty="0">
              <a:sym typeface="+mn-ea"/>
            </a:endParaRPr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dirty="0">
                <a:sym typeface="+mn-ea"/>
              </a:rPr>
              <a:t>Contamination: MATH problems may appear online.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77824" y="4604935"/>
            <a:ext cx="10058400" cy="405977"/>
          </a:xfrm>
          <a:prstGeom prst="roundRect">
            <a:avLst/>
          </a:prstGeom>
          <a:solidFill>
            <a:srgbClr val="E1913C"/>
          </a:solidFill>
          <a:ln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66347"/>
            <a:ext cx="9838944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Discussion question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5001769"/>
            <a:ext cx="10058400" cy="782344"/>
          </a:xfrm>
          <a:prstGeom prst="rect">
            <a:avLst/>
          </a:prstGeom>
          <a:solidFill>
            <a:srgbClr val="FCEFDE"/>
          </a:solidFill>
          <a:ln w="7620">
            <a:solidFill>
              <a:srgbClr val="E19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97280" y="5093208"/>
            <a:ext cx="9838944" cy="589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b="0" dirty="0">
                <a:solidFill>
                  <a:srgbClr val="142D69"/>
                </a:solidFill>
                <a:latin typeface="Aptos"/>
              </a:rPr>
              <a:t>When is the reasoning process itself objectively labelable, and when is it </a:t>
            </a:r>
            <a:r>
              <a:rPr lang="en-US" b="0" dirty="0">
                <a:solidFill>
                  <a:srgbClr val="142D69"/>
                </a:solidFill>
                <a:latin typeface="Aptos"/>
              </a:rPr>
              <a:t>just about </a:t>
            </a:r>
            <a:r>
              <a:rPr b="0" dirty="0">
                <a:solidFill>
                  <a:srgbClr val="142D69"/>
                </a:solidFill>
                <a:latin typeface="Aptos"/>
              </a:rPr>
              <a:t>style, strategy, or preference?</a:t>
            </a:r>
            <a:endParaRPr b="0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F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89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4023360" cy="548640"/>
          </a:xfrm>
          <a:prstGeom prst="rect">
            <a:avLst/>
          </a:prstGeom>
          <a:solidFill>
            <a:srgbClr val="14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309360"/>
            <a:ext cx="2057400" cy="548640"/>
          </a:xfrm>
          <a:prstGeom prst="rect">
            <a:avLst/>
          </a:prstGeom>
          <a:solidFill>
            <a:srgbClr val="26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6309360"/>
            <a:ext cx="6108192" cy="548640"/>
          </a:xfrm>
          <a:prstGeom prst="rect">
            <a:avLst/>
          </a:prstGeom>
          <a:solidFill>
            <a:srgbClr val="AAB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455" y="6437864"/>
            <a:ext cx="3294205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Aptos"/>
              </a:rPr>
              <a:t>Process Reward Modeling in LLMs</a:t>
            </a:r>
            <a:endParaRPr lang="en-US" altLang="zh-CN" sz="1600" dirty="0">
              <a:solidFill>
                <a:srgbClr val="FFFFFF"/>
              </a:solidFill>
              <a:latin typeface="Aptos"/>
            </a:endParaRPr>
          </a:p>
          <a:p>
            <a:pPr algn="ctr"/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3320" y="6473952"/>
            <a:ext cx="28346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"/>
              </a:rPr>
              <a:t>Gang Yan and Xinyao Peng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1207" y="6421850"/>
            <a:ext cx="2011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 dirty="0">
                <a:solidFill>
                  <a:srgbClr val="142D69"/>
                </a:solidFill>
                <a:latin typeface="Aptos"/>
              </a:rPr>
              <a:t>Apr 30, 2026</a:t>
            </a:r>
            <a:endParaRPr sz="2000" b="0" dirty="0">
              <a:solidFill>
                <a:srgbClr val="142D69"/>
              </a:solidFill>
              <a:latin typeface="Aptos"/>
            </a:endParaRPr>
          </a:p>
        </p:txBody>
      </p:sp>
      <p:pic>
        <p:nvPicPr>
          <p:cNvPr id="10" name="Picture 9" descr="42e22a84ce3522a1083517e7fb7494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771" y="53177"/>
            <a:ext cx="1881877" cy="9909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29768"/>
            <a:ext cx="88696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2D69"/>
                </a:solidFill>
                <a:latin typeface="Aptos"/>
              </a:rPr>
              <a:t>Takeaways</a:t>
            </a:r>
            <a:endParaRPr sz="2000" b="1">
              <a:solidFill>
                <a:srgbClr val="142D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1143000"/>
            <a:ext cx="10424160" cy="400431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sz="2000" dirty="0"/>
              <a:t>1.</a:t>
            </a:r>
            <a:r>
              <a:rPr sz="2000" dirty="0"/>
              <a:t>For multi-step reasoning, process supervision trains more reliable reward models than final-answer supervision.</a:t>
            </a:r>
            <a:endParaRPr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sz="2000" dirty="0"/>
              <a:t>2.</a:t>
            </a:r>
            <a:r>
              <a:rPr lang="en-US" altLang="zh-CN" sz="2000" dirty="0"/>
              <a:t>PRM’s advantage comes from better credit assignment and a more local, denser, and more interpretable supervision signal.</a:t>
            </a:r>
            <a:endParaRPr lang="en-US" altLang="zh-CN"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sz="2000" dirty="0"/>
              <a:t>3.</a:t>
            </a:r>
            <a:r>
              <a:rPr sz="2000" dirty="0"/>
              <a:t>Active learning makes expensive step-level labels more data-efficient.</a:t>
            </a:r>
            <a:endParaRPr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lang="en-US" sz="2000" dirty="0"/>
              <a:t>4.</a:t>
            </a:r>
            <a:r>
              <a:rPr sz="2000" dirty="0">
                <a:sym typeface="+mn-ea"/>
              </a:rPr>
              <a:t>The broader lesson: do not only sample more answers;</a:t>
            </a:r>
            <a:endParaRPr sz="2000" dirty="0">
              <a:sym typeface="+mn-ea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r>
              <a:rPr sz="2000" dirty="0">
                <a:sym typeface="+mn-ea"/>
              </a:rPr>
              <a:t> verify the reasoning path step by step.</a:t>
            </a:r>
            <a:endParaRPr sz="2000" dirty="0"/>
          </a:p>
          <a:p>
            <a:pPr>
              <a:lnSpc>
                <a:spcPct val="150000"/>
              </a:lnSpc>
              <a:spcAft>
                <a:spcPts val="400"/>
              </a:spcAft>
              <a:defRPr sz="1800">
                <a:solidFill>
                  <a:srgbClr val="142D69"/>
                </a:solidFill>
                <a:latin typeface="Aptos"/>
              </a:defRPr>
            </a:pP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023360" y="4844194"/>
            <a:ext cx="301752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200" b="1" dirty="0">
                <a:solidFill>
                  <a:srgbClr val="142D69"/>
                </a:solidFill>
                <a:latin typeface="Aptos"/>
              </a:rPr>
              <a:t>Thank you</a:t>
            </a:r>
            <a:endParaRPr sz="3200" b="1" dirty="0">
              <a:solidFill>
                <a:srgbClr val="142D6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9243</Words>
  <Application>WPS 演示</Application>
  <PresentationFormat>宽屏</PresentationFormat>
  <Paragraphs>472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Arial</vt:lpstr>
      <vt:lpstr>Aptos</vt:lpstr>
      <vt:lpstr>Helvetica Neue</vt:lpstr>
      <vt:lpstr>Times New Roman</vt:lpstr>
      <vt:lpstr>Calibri</vt:lpstr>
      <vt:lpstr>微软雅黑</vt:lpstr>
      <vt:lpstr>汉仪旗黑</vt:lpstr>
      <vt:lpstr>宋体</vt:lpstr>
      <vt:lpstr>Arial Unicode MS</vt:lpstr>
      <vt:lpstr>汉仪书宋二KW</vt:lpstr>
      <vt:lpstr>等线</vt:lpstr>
      <vt:lpstr>汉仪中等线KW</vt:lpstr>
      <vt:lpstr>Aptos</vt:lpstr>
      <vt:lpstr>Cambria Math</vt:lpstr>
      <vt:lpstr>Kingsoft Math</vt:lpstr>
      <vt:lpstr>DejaVu Math TeX Gyre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葛婉宁</cp:lastModifiedBy>
  <cp:revision>16</cp:revision>
  <dcterms:created xsi:type="dcterms:W3CDTF">2026-04-30T12:40:31Z</dcterms:created>
  <dcterms:modified xsi:type="dcterms:W3CDTF">2026-04-30T12:40:31Z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36C4247B8420B5DD863FF3695099ADAD_43</vt:lpwstr>
  </property>
  <property fmtid="{D5CDD505-2E9C-101B-9397-08002B2CF9AE}" pid="3" name="KSOProductBuildVer">
    <vt:lpwstr>2052-12.1.22553.22553</vt:lpwstr>
  </property>
</Properties>
</file>