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141732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D69"/>
                </a:solidFill>
              </a:rPr>
              <a:t>Let's Verify Step by Step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85216" y="20116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D6E92"/>
                </a:solidFill>
              </a:rPr>
              <a:t>Process supervision for mathematical reasoning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3504" y="25603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A8"/>
                </a:solidFill>
              </a:rPr>
              <a:t>Lightman et al. · OpenAI · 2023 / ICLR 2024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1792" y="30632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D69"/>
                </a:solidFill>
              </a:rPr>
              <a:t>Process Reward in Large Language Models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3504" y="3657600"/>
            <a:ext cx="4846320" cy="0"/>
          </a:xfrm>
          <a:prstGeom prst="line">
            <a:avLst/>
          </a:prstGeom>
          <a:noFill/>
          <a:ln w="12700">
            <a:solidFill>
              <a:srgbClr val="AAB9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82219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345B"/>
                </a:solidFill>
              </a:rPr>
              <a:t>From rewarding correct answers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345B"/>
                </a:solidFill>
              </a:rPr>
              <a:t> to rewarding correct reasoning steps.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Paper Matters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Motivation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141732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171907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2D69"/>
                </a:solidFill>
              </a:rPr>
              <a:t>Step-by-step reasoning can look persuasive while still being wrong.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731520" y="2743200"/>
            <a:ext cx="3337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285292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D69"/>
                </a:solidFill>
              </a:rPr>
              <a:t>Failure mode 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41248" y="3127248"/>
            <a:ext cx="31181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345B"/>
                </a:solidFill>
              </a:rPr>
              <a:t>A wrong intermediate step breaks the whole chain, but outcome-only feedback cannot localize the error.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16552" y="2743200"/>
            <a:ext cx="3337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26280" y="285292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D69"/>
                </a:solidFill>
              </a:rPr>
              <a:t>Failure mode 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26280" y="3127248"/>
            <a:ext cx="31181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345B"/>
                </a:solidFill>
              </a:rPr>
              <a:t>A flawed derivation can still land on the correct final answer by accident.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01584" y="2743200"/>
            <a:ext cx="3337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1312" y="285292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D69"/>
                </a:solidFill>
              </a:rPr>
              <a:t>Core implication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11312" y="3127248"/>
            <a:ext cx="31181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345B"/>
                </a:solidFill>
              </a:rPr>
              <a:t>If we care about reliable reasoning, the reward signal should say something about the process.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5568696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The paper asks whether supervising reasoning steps leads to better reward models than supervising final answers alone.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Supervision vs Process Supervision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Setup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9808" y="1508760"/>
            <a:ext cx="521208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1618488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D69"/>
                </a:solidFill>
              </a:rPr>
              <a:t>Outcome supervision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59536" y="1892808"/>
            <a:ext cx="499262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45B"/>
                </a:solidFill>
              </a:rPr>
              <a:t>Reward model sees the full solution and learns only from final answer correctness.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345B"/>
                </a:solidFill>
              </a:rPr>
              <a:t>Strength: cheap and easy to scale.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345B"/>
                </a:solidFill>
              </a:rPr>
              <a:t>Weakness: coarse signal, poor credit assignment, may reward spurious reasoning.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17920" y="1508760"/>
            <a:ext cx="521208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27648" y="1618488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D69"/>
                </a:solidFill>
              </a:rPr>
              <a:t>Process supervision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327648" y="1892808"/>
            <a:ext cx="499262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45B"/>
                </a:solidFill>
              </a:rPr>
              <a:t>Reward model receives labels on intermediate reasoning steps.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345B"/>
                </a:solidFill>
              </a:rPr>
              <a:t>Strength: denser feedback and direct localization of mistakes.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345B"/>
                </a:solidFill>
              </a:rPr>
              <a:t>Weakness: human annotation is much more expensive.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016752" y="1783080"/>
            <a:ext cx="0" cy="292608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5303520"/>
            <a:ext cx="10789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543153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D69"/>
                </a:solidFill>
              </a:rPr>
              <a:t>The comparison is about supervision granularity: what kind of signal teaches a verifier what good reasoning looks like?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Overview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Pipeline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1520" y="1965960"/>
            <a:ext cx="1920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207568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1. Generator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1248" y="2350008"/>
            <a:ext cx="17007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45B"/>
                </a:solidFill>
              </a:rPr>
              <a:t>Produces many candidate solutions for each problem.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724912" y="2331720"/>
            <a:ext cx="502920" cy="502920"/>
          </a:xfrm>
          <a:prstGeom prst="chevron">
            <a:avLst/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46120" y="1965960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55848" y="2075688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2. Labels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355848" y="2350008"/>
            <a:ext cx="18379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45B"/>
                </a:solidFill>
              </a:rPr>
              <a:t>Final-answer labels for ORM; step labels for PRM.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394960" y="2331720"/>
            <a:ext cx="502920" cy="502920"/>
          </a:xfrm>
          <a:prstGeom prst="chevron">
            <a:avLst/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16168" y="1965960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25896" y="2075688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3. Reward model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025896" y="2350008"/>
            <a:ext cx="18379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45B"/>
                </a:solidFill>
              </a:rPr>
              <a:t>Train ORM and PRM separately.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065008" y="2331720"/>
            <a:ext cx="502920" cy="502920"/>
          </a:xfrm>
          <a:prstGeom prst="chevron">
            <a:avLst/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95360" y="196596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05088" y="2075688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4. Best-of-N search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705088" y="2350008"/>
            <a:ext cx="24780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45B"/>
                </a:solidFill>
              </a:rPr>
              <a:t>Reward model ranks candidates and selects the best one.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68680" y="40690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What stays fixed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68680" y="4325112"/>
            <a:ext cx="31546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- same generator family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- same evaluation problems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- same search-style selection setting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251960" y="4069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What changes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251960" y="4325112"/>
            <a:ext cx="2834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- how labels are defined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- what the reward model learns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- how solution quality is recognized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360920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Main evaluation question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360920" y="4325112"/>
            <a:ext cx="36576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- Which supervision method is better at picking truly correct solutions from many candidates?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PRM800K and the Labeling Design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Data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22960" y="164592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175564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D69"/>
                </a:solidFill>
              </a:rPr>
              <a:t>800K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32688" y="212140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345B"/>
                </a:solidFill>
              </a:rPr>
              <a:t>step-level labels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32688" y="235915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D6E92"/>
                </a:solidFill>
              </a:rPr>
              <a:t>human feedback on intermediate reasoning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3291840" y="164592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01568" y="175564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D69"/>
                </a:solidFill>
              </a:rPr>
              <a:t>75K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401568" y="212140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345B"/>
                </a:solidFill>
              </a:rPr>
              <a:t>solutions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401568" y="235915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D6E92"/>
                </a:solidFill>
              </a:rPr>
              <a:t>annotated generator outputs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5760720" y="1645920"/>
            <a:ext cx="22402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70448" y="175564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D69"/>
                </a:solidFill>
              </a:rPr>
              <a:t>12K+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870448" y="212140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345B"/>
                </a:solidFill>
              </a:rPr>
              <a:t>problems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870448" y="235915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D6E92"/>
                </a:solidFill>
              </a:rPr>
              <a:t>coverage across MATH-style questions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8229600" y="164592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39328" y="1755648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Conservative rule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39328" y="2029968"/>
            <a:ext cx="27066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345B"/>
                </a:solidFill>
              </a:rPr>
              <a:t>For wrong solutions, annotation stops at the first incorrect step.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68680" y="3703320"/>
            <a:ext cx="32461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8408" y="3813048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D69"/>
                </a:solidFill>
              </a:rPr>
              <a:t>Why stop at the first error?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78408" y="4087368"/>
            <a:ext cx="302666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0345B"/>
                </a:solidFill>
              </a:rPr>
              <a:t>It makes the ORM vs PRM comparison fairer: both know the solution is wrong overall, but PRM knows where it first goes wrong.</a:t>
            </a:r>
            <a:endParaRPr lang="en-US" sz="1280" dirty="0"/>
          </a:p>
        </p:txBody>
      </p:sp>
      <p:sp>
        <p:nvSpPr>
          <p:cNvPr id="32" name="Shape 29"/>
          <p:cNvSpPr/>
          <p:nvPr/>
        </p:nvSpPr>
        <p:spPr>
          <a:xfrm>
            <a:off x="4434840" y="3703320"/>
            <a:ext cx="32461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44568" y="3813048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D69"/>
                </a:solidFill>
              </a:rPr>
              <a:t>How PRM scores a solution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44568" y="4087368"/>
            <a:ext cx="302666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0345B"/>
                </a:solidFill>
              </a:rPr>
              <a:t>The model predicts step correctness and combines those probabilities into a score for the whole reasoning chain.</a:t>
            </a:r>
            <a:endParaRPr lang="en-US" sz="1280" dirty="0"/>
          </a:p>
        </p:txBody>
      </p:sp>
      <p:sp>
        <p:nvSpPr>
          <p:cNvPr id="35" name="Shape 32"/>
          <p:cNvSpPr/>
          <p:nvPr/>
        </p:nvSpPr>
        <p:spPr>
          <a:xfrm>
            <a:off x="8001000" y="3703320"/>
            <a:ext cx="32461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10728" y="3813048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D69"/>
                </a:solidFill>
              </a:rPr>
              <a:t>Why this matters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110728" y="4087368"/>
            <a:ext cx="302666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0345B"/>
                </a:solidFill>
              </a:rPr>
              <a:t>Even with this conservative design, process supervision still wins clearly in the experiments.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Result: PRM Beats ORM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Results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1520" y="1508760"/>
            <a:ext cx="489204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1783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D69"/>
                </a:solidFill>
              </a:rPr>
              <a:t>Representative MATH subset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42D69"/>
                </a:solidFill>
              </a:rPr>
              <a:t>Best-of-1860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60120" y="28803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45B"/>
                </a:solidFill>
              </a:rPr>
              <a:t>Majority voting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240280" y="2788920"/>
            <a:ext cx="1580083" cy="411480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287121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D69"/>
                </a:solidFill>
              </a:rPr>
              <a:t>69.6%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37490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45B"/>
                </a:solidFill>
              </a:rPr>
              <a:t>ORM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240280" y="3657600"/>
            <a:ext cx="2040941" cy="411480"/>
          </a:xfrm>
          <a:prstGeom prst="rect">
            <a:avLst/>
          </a:prstGeom>
          <a:solidFill>
            <a:srgbClr val="7A88A8"/>
          </a:solidFill>
          <a:ln w="12700">
            <a:solidFill>
              <a:srgbClr val="7A88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0" y="373989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D69"/>
                </a:solidFill>
              </a:rPr>
              <a:t>72.4%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60120" y="46177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45B"/>
                </a:solidFill>
              </a:rPr>
              <a:t>PRM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240280" y="4526280"/>
            <a:ext cx="2995574" cy="411480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60857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D69"/>
                </a:solidFill>
              </a:rPr>
              <a:t>78.2%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89320" y="1554480"/>
            <a:ext cx="53492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99048" y="1664208"/>
            <a:ext cx="5129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Interpretation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099048" y="1938528"/>
            <a:ext cx="5129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PRM is substantially better at identifying the truly correct solution among many generated candidates.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989320" y="3017520"/>
            <a:ext cx="53492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9048" y="3127248"/>
            <a:ext cx="5129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Scaling pattern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099048" y="3401568"/>
            <a:ext cx="5129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As N grows, the gap between PRM and ORM widens. Process supervision becomes even more useful in large search spaces.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5989320" y="4480560"/>
            <a:ext cx="53492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99048" y="4590288"/>
            <a:ext cx="5129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Takeaway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099048" y="4864608"/>
            <a:ext cx="5129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The gain is not just better final accuracy. It is better ranking of candidate chains of thought.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Process Supervision Helps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" y="1645920"/>
            <a:ext cx="34290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1755648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1. Better credit assignment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6968" y="2029968"/>
            <a:ext cx="320954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345B"/>
                </a:solidFill>
              </a:rPr>
              <a:t>Outcome supervision only says whether the whole trajectory worked.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345B"/>
                </a:solidFill>
              </a:rPr>
              <a:t>Process supervision can identify the first bad step and preserve information about earlier good steps.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89120" y="1645920"/>
            <a:ext cx="34290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98848" y="1755648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2. Denser supervision signal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498848" y="2029968"/>
            <a:ext cx="320954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345B"/>
                </a:solidFill>
              </a:rPr>
              <a:t>One full solution yields many training signals instead of a single binary label.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345B"/>
                </a:solidFill>
              </a:rPr>
              <a:t>That gives the verifier a much more detailed view of reasoning quality.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01000" y="1645920"/>
            <a:ext cx="34290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10728" y="1755648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3. Less reward for spurious reasoning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110728" y="2029968"/>
            <a:ext cx="320954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345B"/>
                </a:solidFill>
              </a:rPr>
              <a:t>A lucky correct answer can still come from a flawed derivation.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345B"/>
                </a:solidFill>
              </a:rPr>
              <a:t>Process supervision is more likely to reject that solution as unreliable.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85800" y="5349240"/>
            <a:ext cx="10789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54772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Supervision granularity changes what the reward model can actually learn about reasoning quality.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Learning Makes Process Labels More Efficient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Practicality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" y="1508760"/>
            <a:ext cx="2834640" cy="4389120"/>
          </a:xfrm>
          <a:prstGeom prst="roundRect">
            <a:avLst>
              <a:gd name="adj" fmla="val 1613"/>
            </a:avLst>
          </a:prstGeom>
          <a:solidFill>
            <a:srgbClr val="EEF3FB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2057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2D69"/>
                </a:solidFill>
              </a:rPr>
              <a:t>2.6x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1097280" y="27889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345B"/>
                </a:solidFill>
              </a:rPr>
              <a:t>label efficiency gain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7280" y="3154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E92"/>
                </a:solidFill>
              </a:rPr>
              <a:t>with active learning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977640" y="169164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87368" y="180136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D69"/>
                </a:solidFill>
              </a:rPr>
              <a:t>Uniform annotation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087368" y="2075688"/>
            <a:ext cx="31181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0345B"/>
                </a:solidFill>
              </a:rPr>
              <a:t>Spend effort on many easy, low-information solutions.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3977640" y="315468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87368" y="326440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D69"/>
                </a:solidFill>
              </a:rPr>
              <a:t>Active learning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087368" y="3538728"/>
            <a:ext cx="31181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0345B"/>
                </a:solidFill>
              </a:rPr>
              <a:t>Prioritize examples that are ambiguous, difficult, or most informative for the current reward model.</a:t>
            </a:r>
            <a:endParaRPr lang="en-US" sz="1280" dirty="0"/>
          </a:p>
        </p:txBody>
      </p:sp>
      <p:sp>
        <p:nvSpPr>
          <p:cNvPr id="24" name="Shape 21"/>
          <p:cNvSpPr/>
          <p:nvPr/>
        </p:nvSpPr>
        <p:spPr>
          <a:xfrm>
            <a:off x="7635240" y="1691640"/>
            <a:ext cx="3474720" cy="269748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44968" y="1801368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744968" y="2075688"/>
            <a:ext cx="325526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Process supervision is often criticized as too expensive.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This result does not remove the cost, but it shows that targeted annotation can make step-level supervision much more realistic in practice.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85800" y="5166360"/>
            <a:ext cx="10789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52943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D69"/>
                </a:solidFill>
              </a:rPr>
              <a:t>The paper's practical message is not that process labels are cheap, but that they are worth spending strategically.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Beyond One Benchmark: Generalization and Alignment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Meaning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68680" y="178308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" y="1892808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D69"/>
                </a:solidFill>
              </a:rPr>
              <a:t>72.9%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78408" y="22585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345B"/>
                </a:solidFill>
              </a:rPr>
              <a:t>PRM on OOD STEM tasks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78408" y="249631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D6E92"/>
                </a:solidFill>
              </a:rPr>
              <a:t>AP Calculus, Physics, Chemistry, AMC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3474720" y="178308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84448" y="1892808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D69"/>
                </a:solidFill>
              </a:rPr>
              <a:t>63.8%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584448" y="2258568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345B"/>
                </a:solidFill>
              </a:rPr>
              <a:t>ORM on OOD STEM tasks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584448" y="249631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D6E92"/>
                </a:solidFill>
              </a:rPr>
              <a:t>weaker transfer beyond the main subset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6126480" y="1645920"/>
            <a:ext cx="51206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36208" y="1755648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Interpretation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236208" y="2029968"/>
            <a:ext cx="49011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The advantage of process supervision is not limited to one exact MATH evaluation split. It also helps under moderate distribution shift.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68680" y="3703320"/>
            <a:ext cx="324612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8408" y="3813048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Auditability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78408" y="4087368"/>
            <a:ext cx="30266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Humans can inspect which step the reward model found suspicious, making the system easier to analyze.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480560" y="3703320"/>
            <a:ext cx="324612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90288" y="3813048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Alignment intuition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590288" y="4087368"/>
            <a:ext cx="30266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The supervision target becomes closer to the behavior we actually want: sound intermediate reasoning.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8092440" y="3703320"/>
            <a:ext cx="324612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02168" y="3813048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Negative alignment tax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8202168" y="4087368"/>
            <a:ext cx="30266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0345B"/>
                </a:solidFill>
              </a:rPr>
              <a:t>Here, the more aligned strategy is not weaker. It also improves empirical performance.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 and Open Questions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Critique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22960" y="1600200"/>
            <a:ext cx="105613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1709928"/>
            <a:ext cx="10341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Mostly mathematics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32688" y="1984248"/>
            <a:ext cx="10341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" dirty="0">
                <a:solidFill>
                  <a:srgbClr val="20345B"/>
                </a:solidFill>
              </a:rPr>
              <a:t>The strongest evidence is in a domain with structured solutions and often checkable final answers.</a:t>
            </a:r>
            <a:endParaRPr lang="en-US" sz="1270" dirty="0"/>
          </a:p>
        </p:txBody>
      </p:sp>
      <p:sp>
        <p:nvSpPr>
          <p:cNvPr id="17" name="Shape 14"/>
          <p:cNvSpPr/>
          <p:nvPr/>
        </p:nvSpPr>
        <p:spPr>
          <a:xfrm>
            <a:off x="822960" y="2651760"/>
            <a:ext cx="105613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2761488"/>
            <a:ext cx="10341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High annotation cost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2688" y="3035808"/>
            <a:ext cx="10341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" dirty="0">
                <a:solidFill>
                  <a:srgbClr val="20345B"/>
                </a:solidFill>
              </a:rPr>
              <a:t>Step-level human labels are still expensive even after active learning.</a:t>
            </a:r>
            <a:endParaRPr lang="en-US" sz="1270" dirty="0"/>
          </a:p>
        </p:txBody>
      </p:sp>
      <p:sp>
        <p:nvSpPr>
          <p:cNvPr id="20" name="Shape 17"/>
          <p:cNvSpPr/>
          <p:nvPr/>
        </p:nvSpPr>
        <p:spPr>
          <a:xfrm>
            <a:off x="822960" y="3703320"/>
            <a:ext cx="105613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" y="3813048"/>
            <a:ext cx="10341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Outcome metric remains final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32688" y="4087368"/>
            <a:ext cx="10341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" dirty="0">
                <a:solidFill>
                  <a:srgbClr val="20345B"/>
                </a:solidFill>
              </a:rPr>
              <a:t>The paper proves process supervision helps optimize solved-rate, but not that it fully captures all notions of good reasoning.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822960" y="4754880"/>
            <a:ext cx="105613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2688" y="4864608"/>
            <a:ext cx="10341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D69"/>
                </a:solidFill>
              </a:rPr>
              <a:t>Harder domains remain open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32688" y="5138928"/>
            <a:ext cx="10341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0" dirty="0">
                <a:solidFill>
                  <a:srgbClr val="20345B"/>
                </a:solidFill>
              </a:rPr>
              <a:t>Law, medicine, open-ended planning, and creative reasoning may require different kinds of process labels.</a:t>
            </a:r>
            <a:endParaRPr lang="en-US" sz="1270" dirty="0"/>
          </a:p>
        </p:txBody>
      </p:sp>
      <p:sp>
        <p:nvSpPr>
          <p:cNvPr id="26" name="Shape 23"/>
          <p:cNvSpPr/>
          <p:nvPr/>
        </p:nvSpPr>
        <p:spPr>
          <a:xfrm>
            <a:off x="685800" y="5897880"/>
            <a:ext cx="107899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" y="6025896"/>
            <a:ext cx="10515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D69"/>
                </a:solidFill>
              </a:rPr>
              <a:t>The paper is strongest as a proof of concept: process reward can be both more aligned and more effective on difficult reasoning tasks.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E2EAF7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"/>
            <a:ext cx="12191695" cy="0"/>
          </a:xfrm>
          <a:prstGeom prst="line">
            <a:avLst/>
          </a:prstGeom>
          <a:noFill/>
          <a:ln w="12700">
            <a:solidFill>
              <a:srgbClr val="D6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27648"/>
            <a:ext cx="4023360" cy="530352"/>
          </a:xfrm>
          <a:prstGeom prst="rect">
            <a:avLst/>
          </a:prstGeom>
          <a:solidFill>
            <a:srgbClr val="142D69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6327648"/>
            <a:ext cx="2057400" cy="530352"/>
          </a:xfrm>
          <a:prstGeom prst="rect">
            <a:avLst/>
          </a:prstGeom>
          <a:solidFill>
            <a:srgbClr val="1D3B82"/>
          </a:solidFill>
          <a:ln w="12700">
            <a:solidFill>
              <a:srgbClr val="1D3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327648"/>
            <a:ext cx="6110935" cy="530352"/>
          </a:xfrm>
          <a:prstGeom prst="rect">
            <a:avLst/>
          </a:prstGeom>
          <a:solidFill>
            <a:srgbClr val="AAB9DC"/>
          </a:solidFill>
          <a:ln w="12700">
            <a:solidFill>
              <a:srgbClr val="AAB9DC"/>
            </a:solidFill>
            <a:prstDash val="solid"/>
          </a:ln>
        </p:spPr>
      </p:sp>
      <p:pic>
        <p:nvPicPr>
          <p:cNvPr id="7" name="Image 0" descr="/Users/sena/Desktop/Heidelberg_SciComp/26SS/Process_Reward_LLMs/notes/assets/heidelber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27432"/>
            <a:ext cx="603504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6446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in LLMs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60520" y="6446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YanGang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Heidelberg, 27.04.2026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5669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 and Discussion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566928" y="960120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AAB9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1014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6E92"/>
                </a:solidFill>
              </a:rPr>
              <a:t>Closing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68680" y="1691640"/>
            <a:ext cx="33375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" y="180136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D69"/>
                </a:solidFill>
              </a:rPr>
              <a:t>Takeaway 1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78408" y="2075688"/>
            <a:ext cx="31181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20345B"/>
                </a:solidFill>
              </a:rPr>
              <a:t>Only supervising final answers throws away crucial information about reasoning quality.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4416552" y="1691640"/>
            <a:ext cx="33375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180136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D69"/>
                </a:solidFill>
              </a:rPr>
              <a:t>Takeaway 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526280" y="2075688"/>
            <a:ext cx="31181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20345B"/>
                </a:solidFill>
              </a:rPr>
              <a:t>Process-supervised reward models select better mathematical solutions than outcome-supervised ones.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7955280" y="1691640"/>
            <a:ext cx="33375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DF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180136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D69"/>
                </a:solidFill>
              </a:rPr>
              <a:t>Takeaway 3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065008" y="2075688"/>
            <a:ext cx="31181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20345B"/>
                </a:solidFill>
              </a:rPr>
              <a:t>Process reward is not only interpretable. In this paper, it is also the stronger empirical strategy.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960120" y="3429000"/>
            <a:ext cx="10012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142D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25880" y="376732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D69"/>
                </a:solidFill>
              </a:rPr>
              <a:t>This paper shifts reward learning from “Was the answer correct?”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42D69"/>
                </a:solidFill>
              </a:rPr>
              <a:t> to “Was the reasoning correct step by step?”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6012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D69"/>
                </a:solidFill>
              </a:rPr>
              <a:t>Discussion prompts: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43000" y="533095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345B"/>
                </a:solidFill>
              </a:rPr>
              <a:t>1. How should process labels look outside mathematics?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345B"/>
                </a:solidFill>
              </a:rPr>
              <a:t>2. Is human step annotation a long-term method or mainly a bootstrap?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0345B"/>
                </a:solidFill>
              </a:rPr>
              <a:t>3. If final evaluation is still outcome-based, how much better reasoning are we really measuring?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9738360" y="58704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42D69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Heidelberg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Let's Verify Step by Step Seminar</dc:title>
  <dc:subject>Process Reward in Large Language Models Seminar</dc:subject>
  <dc:creator>葛婉宁</dc:creator>
  <cp:lastModifiedBy>葛婉宁</cp:lastModifiedBy>
  <cp:revision>1</cp:revision>
  <dcterms:created xsi:type="dcterms:W3CDTF">2026-07-29T23:51:42Z</dcterms:created>
  <dcterms:modified xsi:type="dcterms:W3CDTF">2026-07-29T23:51:42Z</dcterms:modified>
</cp:coreProperties>
</file>